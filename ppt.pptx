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Gelasio" panose="020B0604020202020204" charset="0"/>
      <p:regular r:id="rId18"/>
    </p:embeddedFont>
    <p:embeddedFont>
      <p:font typeface="Gelasio Bold" panose="020B0604020202020204" charset="0"/>
      <p:regular r:id="rId19"/>
    </p:embeddedFont>
    <p:embeddedFont>
      <p:font typeface="Gelasio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zaan Mohammad" userId="1d8cebe88c6c54eb" providerId="LiveId" clId="{9D323E12-E77F-4C5F-9963-DCA56EAD3563}"/>
    <pc:docChg chg="modSld">
      <pc:chgData name="Faizaan Mohammad" userId="1d8cebe88c6c54eb" providerId="LiveId" clId="{9D323E12-E77F-4C5F-9963-DCA56EAD3563}" dt="2026-08-17T17:01:45.621" v="24" actId="1076"/>
      <pc:docMkLst>
        <pc:docMk/>
      </pc:docMkLst>
      <pc:sldChg chg="addSp modSp mod">
        <pc:chgData name="Faizaan Mohammad" userId="1d8cebe88c6c54eb" providerId="LiveId" clId="{9D323E12-E77F-4C5F-9963-DCA56EAD3563}" dt="2026-08-17T17:00:52.705" v="2" actId="1076"/>
        <pc:sldMkLst>
          <pc:docMk/>
          <pc:sldMk cId="0" sldId="256"/>
        </pc:sldMkLst>
        <pc:picChg chg="add mod">
          <ac:chgData name="Faizaan Mohammad" userId="1d8cebe88c6c54eb" providerId="LiveId" clId="{9D323E12-E77F-4C5F-9963-DCA56EAD3563}" dt="2026-08-17T17:00:52.705" v="2" actId="1076"/>
          <ac:picMkLst>
            <pc:docMk/>
            <pc:sldMk cId="0" sldId="256"/>
            <ac:picMk id="8" creationId="{1AE03338-D133-41B0-3C80-4557FE08A902}"/>
          </ac:picMkLst>
        </pc:picChg>
      </pc:sldChg>
      <pc:sldChg chg="addSp modSp mod">
        <pc:chgData name="Faizaan Mohammad" userId="1d8cebe88c6c54eb" providerId="LiveId" clId="{9D323E12-E77F-4C5F-9963-DCA56EAD3563}" dt="2026-08-17T17:01:01.065" v="6" actId="14100"/>
        <pc:sldMkLst>
          <pc:docMk/>
          <pc:sldMk cId="0" sldId="257"/>
        </pc:sldMkLst>
        <pc:picChg chg="add mod">
          <ac:chgData name="Faizaan Mohammad" userId="1d8cebe88c6c54eb" providerId="LiveId" clId="{9D323E12-E77F-4C5F-9963-DCA56EAD3563}" dt="2026-08-17T17:01:01.065" v="6" actId="14100"/>
          <ac:picMkLst>
            <pc:docMk/>
            <pc:sldMk cId="0" sldId="257"/>
            <ac:picMk id="21" creationId="{FBD3F05D-7E27-BD8B-6BB6-2997C6DD9B06}"/>
          </ac:picMkLst>
        </pc:picChg>
      </pc:sldChg>
      <pc:sldChg chg="addSp modSp mod">
        <pc:chgData name="Faizaan Mohammad" userId="1d8cebe88c6c54eb" providerId="LiveId" clId="{9D323E12-E77F-4C5F-9963-DCA56EAD3563}" dt="2026-08-17T17:01:09.241" v="9" actId="14100"/>
        <pc:sldMkLst>
          <pc:docMk/>
          <pc:sldMk cId="0" sldId="259"/>
        </pc:sldMkLst>
        <pc:picChg chg="add mod">
          <ac:chgData name="Faizaan Mohammad" userId="1d8cebe88c6c54eb" providerId="LiveId" clId="{9D323E12-E77F-4C5F-9963-DCA56EAD3563}" dt="2026-08-17T17:01:09.241" v="9" actId="14100"/>
          <ac:picMkLst>
            <pc:docMk/>
            <pc:sldMk cId="0" sldId="259"/>
            <ac:picMk id="29" creationId="{67D7639F-7ED5-CB3E-6F94-A1B49EB7028C}"/>
          </ac:picMkLst>
        </pc:picChg>
      </pc:sldChg>
      <pc:sldChg chg="addSp modSp mod">
        <pc:chgData name="Faizaan Mohammad" userId="1d8cebe88c6c54eb" providerId="LiveId" clId="{9D323E12-E77F-4C5F-9963-DCA56EAD3563}" dt="2026-08-17T17:01:13.836" v="11" actId="1076"/>
        <pc:sldMkLst>
          <pc:docMk/>
          <pc:sldMk cId="0" sldId="260"/>
        </pc:sldMkLst>
        <pc:picChg chg="add mod">
          <ac:chgData name="Faizaan Mohammad" userId="1d8cebe88c6c54eb" providerId="LiveId" clId="{9D323E12-E77F-4C5F-9963-DCA56EAD3563}" dt="2026-08-17T17:01:13.836" v="11" actId="1076"/>
          <ac:picMkLst>
            <pc:docMk/>
            <pc:sldMk cId="0" sldId="260"/>
            <ac:picMk id="27" creationId="{4F163872-06BC-0003-60D7-AE48A7B3FEFF}"/>
          </ac:picMkLst>
        </pc:picChg>
      </pc:sldChg>
      <pc:sldChg chg="addSp modSp mod">
        <pc:chgData name="Faizaan Mohammad" userId="1d8cebe88c6c54eb" providerId="LiveId" clId="{9D323E12-E77F-4C5F-9963-DCA56EAD3563}" dt="2026-08-17T17:01:19.904" v="13" actId="1076"/>
        <pc:sldMkLst>
          <pc:docMk/>
          <pc:sldMk cId="0" sldId="261"/>
        </pc:sldMkLst>
        <pc:picChg chg="add mod">
          <ac:chgData name="Faizaan Mohammad" userId="1d8cebe88c6c54eb" providerId="LiveId" clId="{9D323E12-E77F-4C5F-9963-DCA56EAD3563}" dt="2026-08-17T17:01:19.904" v="13" actId="1076"/>
          <ac:picMkLst>
            <pc:docMk/>
            <pc:sldMk cId="0" sldId="261"/>
            <ac:picMk id="22" creationId="{80830C42-B402-D519-084A-A707EB07B6C7}"/>
          </ac:picMkLst>
        </pc:picChg>
      </pc:sldChg>
      <pc:sldChg chg="addSp modSp mod">
        <pc:chgData name="Faizaan Mohammad" userId="1d8cebe88c6c54eb" providerId="LiveId" clId="{9D323E12-E77F-4C5F-9963-DCA56EAD3563}" dt="2026-08-17T17:01:25.037" v="15" actId="1076"/>
        <pc:sldMkLst>
          <pc:docMk/>
          <pc:sldMk cId="0" sldId="262"/>
        </pc:sldMkLst>
        <pc:picChg chg="add mod">
          <ac:chgData name="Faizaan Mohammad" userId="1d8cebe88c6c54eb" providerId="LiveId" clId="{9D323E12-E77F-4C5F-9963-DCA56EAD3563}" dt="2026-08-17T17:01:25.037" v="15" actId="1076"/>
          <ac:picMkLst>
            <pc:docMk/>
            <pc:sldMk cId="0" sldId="262"/>
            <ac:picMk id="33" creationId="{1C3CF70D-C94E-842C-1277-CB9D8C802D25}"/>
          </ac:picMkLst>
        </pc:picChg>
      </pc:sldChg>
      <pc:sldChg chg="addSp modSp mod">
        <pc:chgData name="Faizaan Mohammad" userId="1d8cebe88c6c54eb" providerId="LiveId" clId="{9D323E12-E77F-4C5F-9963-DCA56EAD3563}" dt="2026-08-17T17:01:30.292" v="18" actId="1076"/>
        <pc:sldMkLst>
          <pc:docMk/>
          <pc:sldMk cId="0" sldId="263"/>
        </pc:sldMkLst>
        <pc:picChg chg="add mod">
          <ac:chgData name="Faizaan Mohammad" userId="1d8cebe88c6c54eb" providerId="LiveId" clId="{9D323E12-E77F-4C5F-9963-DCA56EAD3563}" dt="2026-08-17T17:01:30.292" v="18" actId="1076"/>
          <ac:picMkLst>
            <pc:docMk/>
            <pc:sldMk cId="0" sldId="263"/>
            <ac:picMk id="28" creationId="{D5FBEEFD-8145-C5F5-7CCF-F108CB20090C}"/>
          </ac:picMkLst>
        </pc:picChg>
      </pc:sldChg>
      <pc:sldChg chg="addSp modSp mod">
        <pc:chgData name="Faizaan Mohammad" userId="1d8cebe88c6c54eb" providerId="LiveId" clId="{9D323E12-E77F-4C5F-9963-DCA56EAD3563}" dt="2026-08-17T17:01:35.163" v="20" actId="1076"/>
        <pc:sldMkLst>
          <pc:docMk/>
          <pc:sldMk cId="0" sldId="264"/>
        </pc:sldMkLst>
        <pc:picChg chg="add mod">
          <ac:chgData name="Faizaan Mohammad" userId="1d8cebe88c6c54eb" providerId="LiveId" clId="{9D323E12-E77F-4C5F-9963-DCA56EAD3563}" dt="2026-08-17T17:01:35.163" v="20" actId="1076"/>
          <ac:picMkLst>
            <pc:docMk/>
            <pc:sldMk cId="0" sldId="264"/>
            <ac:picMk id="47" creationId="{9F4B3C7F-60FE-07A5-B322-E24699789BEF}"/>
          </ac:picMkLst>
        </pc:picChg>
      </pc:sldChg>
      <pc:sldChg chg="addSp modSp mod">
        <pc:chgData name="Faizaan Mohammad" userId="1d8cebe88c6c54eb" providerId="LiveId" clId="{9D323E12-E77F-4C5F-9963-DCA56EAD3563}" dt="2026-08-17T17:01:40.496" v="22" actId="1076"/>
        <pc:sldMkLst>
          <pc:docMk/>
          <pc:sldMk cId="0" sldId="265"/>
        </pc:sldMkLst>
        <pc:picChg chg="add mod">
          <ac:chgData name="Faizaan Mohammad" userId="1d8cebe88c6c54eb" providerId="LiveId" clId="{9D323E12-E77F-4C5F-9963-DCA56EAD3563}" dt="2026-08-17T17:01:40.496" v="22" actId="1076"/>
          <ac:picMkLst>
            <pc:docMk/>
            <pc:sldMk cId="0" sldId="265"/>
            <ac:picMk id="48" creationId="{5059D500-ED28-8E9A-8F2D-CABE9C735D21}"/>
          </ac:picMkLst>
        </pc:picChg>
      </pc:sldChg>
      <pc:sldChg chg="addSp modSp mod">
        <pc:chgData name="Faizaan Mohammad" userId="1d8cebe88c6c54eb" providerId="LiveId" clId="{9D323E12-E77F-4C5F-9963-DCA56EAD3563}" dt="2026-08-17T17:01:45.621" v="24" actId="1076"/>
        <pc:sldMkLst>
          <pc:docMk/>
          <pc:sldMk cId="0" sldId="266"/>
        </pc:sldMkLst>
        <pc:picChg chg="add mod">
          <ac:chgData name="Faizaan Mohammad" userId="1d8cebe88c6c54eb" providerId="LiveId" clId="{9D323E12-E77F-4C5F-9963-DCA56EAD3563}" dt="2026-08-17T17:01:45.621" v="24" actId="1076"/>
          <ac:picMkLst>
            <pc:docMk/>
            <pc:sldMk cId="0" sldId="266"/>
            <ac:picMk id="36" creationId="{15CF36A4-DD69-1B10-2682-7D6EE435CB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77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.pn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2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046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HESTIA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8015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15C72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Real Estate Mobile App for Buyer Self-Service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67519" y="241421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 Where You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835920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74655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3049860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DBSE Project — 1st Review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Faizaan — 2520030359  |  Ishaan Kulkarni — 2520030267  |  Abhiram Koppisetty — 2520030357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E03338-D133-41B0-3C80-4557FE08A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838" y="4743394"/>
            <a:ext cx="2772162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460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Abstract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937370"/>
            <a:ext cx="267042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is a buyer-focused Android mobile application that provides a self-service platform for discovering and managing real-estate properties.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292" y="997967"/>
            <a:ext cx="5200278" cy="23798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1493" y="1310381"/>
            <a:ext cx="1150333" cy="143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API &amp; Database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261493" y="1495074"/>
            <a:ext cx="1267922" cy="20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Node.js/Express REST API and MySQL storage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590654" y="2092607"/>
            <a:ext cx="1150333" cy="143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Retrofit Layer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75316" y="2277300"/>
            <a:ext cx="1165670" cy="20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HTTP client for network requests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261493" y="2496502"/>
            <a:ext cx="1150333" cy="143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Android App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261493" y="2681194"/>
            <a:ext cx="1267922" cy="20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Buyer-facing mobile interface and features</a:t>
            </a:r>
            <a:endParaRPr lang="en-US" sz="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588246"/>
            <a:ext cx="2654871" cy="11627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2675" y="3717652"/>
            <a:ext cx="23389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Features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82675" y="3953694"/>
            <a:ext cx="233890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Registration, login, property discovery, property details, saved properties, expressions of interest, EMI calculation, profile access and activity history.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4528" y="3588246"/>
            <a:ext cx="2654871" cy="11627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31084" y="3717652"/>
            <a:ext cx="23389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Access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431084" y="3953694"/>
            <a:ext cx="2338908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Previously loaded property information remains available offline through a Room local cache.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2937" y="3588246"/>
            <a:ext cx="2654871" cy="11627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79493" y="3717652"/>
            <a:ext cx="23389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179493" y="3953694"/>
            <a:ext cx="233890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update notifications delivered through Firebase FCM.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D3F05D-7E27-BD8B-6BB6-2997C6DD9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838" y="4807148"/>
            <a:ext cx="2772162" cy="3363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1229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96119" y="1157957"/>
            <a:ext cx="21993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The Problem Space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96119" y="1490216"/>
            <a:ext cx="2199308" cy="2602557"/>
          </a:xfrm>
          <a:prstGeom prst="rect">
            <a:avLst/>
          </a:prstGeom>
          <a:noFill/>
          <a:ln/>
        </p:spPr>
        <p:txBody>
          <a:bodyPr wrap="square" lIns="0" tIns="53163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Real-estate buyers need to search and compare multiple properties across fragmented sources.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Buyer activities and property interactions lack a centralized platform.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Internet dependency prevents access to previously viewed information.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provides a unified buyer self-service platform to address all of these gaps.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024336" y="1173510"/>
            <a:ext cx="2199308" cy="1534046"/>
          </a:xfrm>
          <a:prstGeom prst="roundRect">
            <a:avLst>
              <a:gd name="adj" fmla="val 1300"/>
            </a:avLst>
          </a:prstGeom>
          <a:solidFill>
            <a:srgbClr val="EEE8DD"/>
          </a:solidFill>
          <a:ln/>
        </p:spPr>
      </p:sp>
      <p:sp>
        <p:nvSpPr>
          <p:cNvPr id="7" name="Text 4"/>
          <p:cNvSpPr/>
          <p:nvPr/>
        </p:nvSpPr>
        <p:spPr>
          <a:xfrm>
            <a:off x="3157240" y="1306413"/>
            <a:ext cx="193350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Target User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57240" y="1638672"/>
            <a:ext cx="1933501" cy="93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BUYER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seekers requiring discovery, comparison, and management tools in one place.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24336" y="2832125"/>
            <a:ext cx="2199308" cy="1740024"/>
          </a:xfrm>
          <a:prstGeom prst="roundRect">
            <a:avLst>
              <a:gd name="adj" fmla="val 1146"/>
            </a:avLst>
          </a:prstGeom>
          <a:solidFill>
            <a:srgbClr val="EEE8DD"/>
          </a:solidFill>
          <a:ln/>
        </p:spPr>
      </p:sp>
      <p:sp>
        <p:nvSpPr>
          <p:cNvPr id="10" name="Text 7"/>
          <p:cNvSpPr/>
          <p:nvPr/>
        </p:nvSpPr>
        <p:spPr>
          <a:xfrm>
            <a:off x="3157240" y="2965028"/>
            <a:ext cx="193350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Domain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157240" y="3297287"/>
            <a:ext cx="1933501" cy="114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REAL ESTATE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discovery and buyer activity management through a mobile-first self-service platform.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17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Existing System — Limitations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855092"/>
            <a:ext cx="860896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real-estate buyer experiences are fragmented across tools, platforms, and manual processes. Key limitations identified: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47006"/>
            <a:ext cx="8151763" cy="558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878" y="123884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8733" y="1149548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Scattered Information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38733" y="1331491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data is spread across multiple sources with no unified view.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66205"/>
            <a:ext cx="8151763" cy="558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878" y="1858045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38733" y="1768748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Multi-Step Interest Management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38733" y="1950690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Registering buyer interest requires navigating multiple disconnected steps.</a:t>
            </a:r>
            <a:endParaRPr lang="en-US" sz="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85405"/>
            <a:ext cx="8151763" cy="558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878" y="2477244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938733" y="2387947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Connectivity Dependency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38733" y="2569890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offline access to previously viewed property information.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04604"/>
            <a:ext cx="8151763" cy="5581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878" y="3096444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938733" y="3007147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 Integrated EMI Tool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38733" y="3189089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EMI estimation requires a separate external calculator.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23804"/>
            <a:ext cx="8151763" cy="5581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1878" y="3715643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938733" y="3626346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 Activity History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938733" y="3808288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Buyer browsing and interaction history is not centralized or retrievable.</a:t>
            </a:r>
            <a:endParaRPr lang="en-US" sz="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43003"/>
            <a:ext cx="8151763" cy="5581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878" y="4334842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938733" y="4245546"/>
            <a:ext cx="760660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Delayed Updates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938733" y="4427488"/>
            <a:ext cx="760660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status changes are difficult to track in real time.</a:t>
            </a:r>
            <a:endParaRPr lang="en-US" sz="7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7D7639F-7ED5-CB3E-6F94-A1B49EB70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920" y="4803725"/>
            <a:ext cx="2772162" cy="297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5214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Problem Statement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78805" y="1232967"/>
            <a:ext cx="796907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"How can we provide property buyers with a single mobile platform to discover properties, manage their interests, estimate EMI, maintain activity history, and access previously loaded property information even when connectivity is unavailable?"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115244"/>
            <a:ext cx="14288" cy="597843"/>
          </a:xfrm>
          <a:prstGeom prst="roundRect">
            <a:avLst>
              <a:gd name="adj" fmla="val 49998"/>
            </a:avLst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870100"/>
            <a:ext cx="8151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Challenge Areas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6119" y="2217465"/>
            <a:ext cx="4023568" cy="1148060"/>
          </a:xfrm>
          <a:prstGeom prst="roundRect">
            <a:avLst>
              <a:gd name="adj" fmla="val 1592"/>
            </a:avLst>
          </a:prstGeom>
          <a:solidFill>
            <a:srgbClr val="EEE8DD"/>
          </a:solidFill>
          <a:ln/>
        </p:spPr>
      </p:sp>
      <p:sp>
        <p:nvSpPr>
          <p:cNvPr id="7" name="Shape 5"/>
          <p:cNvSpPr/>
          <p:nvPr/>
        </p:nvSpPr>
        <p:spPr>
          <a:xfrm>
            <a:off x="617934" y="2339280"/>
            <a:ext cx="365447" cy="365447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393" y="2439739"/>
            <a:ext cx="164455" cy="1644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934" y="2809354"/>
            <a:ext cx="37799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Property Discovery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934" y="3062511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 and inspect available listings from a single interface.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24313" y="2217465"/>
            <a:ext cx="4023568" cy="1148060"/>
          </a:xfrm>
          <a:prstGeom prst="roundRect">
            <a:avLst>
              <a:gd name="adj" fmla="val 1592"/>
            </a:avLst>
          </a:prstGeom>
          <a:solidFill>
            <a:srgbClr val="EEE8DD"/>
          </a:solidFill>
          <a:ln/>
        </p:spPr>
      </p:sp>
      <p:sp>
        <p:nvSpPr>
          <p:cNvPr id="12" name="Shape 9"/>
          <p:cNvSpPr/>
          <p:nvPr/>
        </p:nvSpPr>
        <p:spPr>
          <a:xfrm>
            <a:off x="4746129" y="2339280"/>
            <a:ext cx="365447" cy="365447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588" y="2439739"/>
            <a:ext cx="164455" cy="1644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46129" y="2809354"/>
            <a:ext cx="37799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Activity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46129" y="3062511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properties, express interest, and review interaction history.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6119" y="3470151"/>
            <a:ext cx="4023568" cy="1148060"/>
          </a:xfrm>
          <a:prstGeom prst="roundRect">
            <a:avLst>
              <a:gd name="adj" fmla="val 1592"/>
            </a:avLst>
          </a:prstGeom>
          <a:solidFill>
            <a:srgbClr val="EEE8DD"/>
          </a:solidFill>
          <a:ln/>
        </p:spPr>
      </p:sp>
      <p:sp>
        <p:nvSpPr>
          <p:cNvPr id="17" name="Shape 13"/>
          <p:cNvSpPr/>
          <p:nvPr/>
        </p:nvSpPr>
        <p:spPr>
          <a:xfrm>
            <a:off x="617934" y="3591967"/>
            <a:ext cx="365447" cy="365447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393" y="3692426"/>
            <a:ext cx="164455" cy="1644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934" y="4062040"/>
            <a:ext cx="37799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Access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7934" y="4315197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 previously loaded property data without network connectivity.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24313" y="3470151"/>
            <a:ext cx="4023568" cy="1148060"/>
          </a:xfrm>
          <a:prstGeom prst="roundRect">
            <a:avLst>
              <a:gd name="adj" fmla="val 1592"/>
            </a:avLst>
          </a:prstGeom>
          <a:solidFill>
            <a:srgbClr val="EEE8DD"/>
          </a:solidFill>
          <a:ln/>
        </p:spPr>
      </p:sp>
      <p:sp>
        <p:nvSpPr>
          <p:cNvPr id="22" name="Shape 17"/>
          <p:cNvSpPr/>
          <p:nvPr/>
        </p:nvSpPr>
        <p:spPr>
          <a:xfrm>
            <a:off x="4746129" y="3591967"/>
            <a:ext cx="365447" cy="365447"/>
          </a:xfrm>
          <a:prstGeom prst="ellipse">
            <a:avLst/>
          </a:prstGeom>
          <a:solidFill>
            <a:srgbClr val="D3C5B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588" y="3692426"/>
            <a:ext cx="164455" cy="16445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46129" y="4062040"/>
            <a:ext cx="37799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Timely Updates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746129" y="4315197"/>
            <a:ext cx="37799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Receive push notifications for property status changes.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F163872-06BC-0003-60D7-AE48A7B3F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4879" y="4681017"/>
            <a:ext cx="2772162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925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Solution / Contribution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61715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is the proposed integrated buyer self-service platform combining relational database engineering, RESTful backend services, offline caching, and property update notifications.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38" y="1306562"/>
            <a:ext cx="4467076" cy="33576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92728" y="2822281"/>
            <a:ext cx="814671" cy="558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HESTIA Architecture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911423" y="3733818"/>
            <a:ext cx="1211968" cy="18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path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11423" y="3973086"/>
            <a:ext cx="1211968" cy="38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Android → Room cache → Sync on restore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0009" y="3704634"/>
            <a:ext cx="1211968" cy="37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Notification path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70009" y="4130184"/>
            <a:ext cx="1211968" cy="256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→ Firebase FCM → Buyer device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474158" y="1531557"/>
            <a:ext cx="1245085" cy="18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path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474158" y="1770825"/>
            <a:ext cx="1245085" cy="38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Buyer → Android → Retrofit → Node.js → MySQL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1013" y="1841004"/>
            <a:ext cx="2691557" cy="7639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34323" y="1957164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Path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34323" y="2189634"/>
            <a:ext cx="2402086" cy="299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BUYER → ANDROID → RETROFIT → NODE.JS/EXPRESS → MYSQL</a:t>
            </a:r>
            <a:endParaRPr lang="en-US" sz="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1013" y="2678162"/>
            <a:ext cx="2691557" cy="7639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34323" y="2794322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Path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134323" y="3026792"/>
            <a:ext cx="2402086" cy="299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→ ROOM CACHE → OFFLINE ACCESS → SYNC ON RESTORE</a:t>
            </a:r>
            <a:endParaRPr lang="en-US" sz="8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1013" y="3515320"/>
            <a:ext cx="2691557" cy="6143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34323" y="3631481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Notification Path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134323" y="3863950"/>
            <a:ext cx="2402086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→ FIREBASE FCM → BUYER DEVICE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0830C42-B402-D519-084A-A707EB07B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38" y="4743394"/>
            <a:ext cx="2772162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898"/>
            <a:ext cx="8151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Objectives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77913"/>
            <a:ext cx="5221114" cy="29586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451" y="884262"/>
            <a:ext cx="204341" cy="20434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5977533" y="901303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205910" y="915442"/>
            <a:ext cx="24466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Normalized Relational Database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205910" y="1115467"/>
            <a:ext cx="24466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 a structured and normalized MySQL schema.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943451" y="1350913"/>
            <a:ext cx="204341" cy="20434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5977533" y="1367954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05910" y="1382092"/>
            <a:ext cx="24466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ER Modelling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205910" y="1582117"/>
            <a:ext cx="244666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users, properties and buyer activities using ER concepts.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5943451" y="1936700"/>
            <a:ext cx="204341" cy="20434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5977533" y="1953741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05910" y="1967880"/>
            <a:ext cx="24466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REST API Development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205910" y="2167905"/>
            <a:ext cx="244666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Node.js + Express APIs for all application operations.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5943451" y="2522488"/>
            <a:ext cx="204341" cy="20434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7" name="Text 14"/>
          <p:cNvSpPr/>
          <p:nvPr/>
        </p:nvSpPr>
        <p:spPr>
          <a:xfrm>
            <a:off x="5977533" y="2539529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05910" y="2553667"/>
            <a:ext cx="24466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Android Application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205910" y="2753692"/>
            <a:ext cx="244666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 a buyer-friendly Kotlin + Jetpack Compose mobile app.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943451" y="3108275"/>
            <a:ext cx="204341" cy="20434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1" name="Text 18"/>
          <p:cNvSpPr/>
          <p:nvPr/>
        </p:nvSpPr>
        <p:spPr>
          <a:xfrm>
            <a:off x="5977533" y="3125316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05910" y="3139455"/>
            <a:ext cx="24466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Offline Caching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205910" y="3339480"/>
            <a:ext cx="24466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Support offline property access through Room local cache.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5943451" y="3574926"/>
            <a:ext cx="204341" cy="20434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5" name="Text 22"/>
          <p:cNvSpPr/>
          <p:nvPr/>
        </p:nvSpPr>
        <p:spPr>
          <a:xfrm>
            <a:off x="5977533" y="3591967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05910" y="3606105"/>
            <a:ext cx="24466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EMI &amp; Activity Tracking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205910" y="3806130"/>
            <a:ext cx="244666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 EMI calculation and centralized buyer activity history.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943451" y="4160713"/>
            <a:ext cx="204341" cy="20434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9" name="Text 26"/>
          <p:cNvSpPr/>
          <p:nvPr/>
        </p:nvSpPr>
        <p:spPr>
          <a:xfrm>
            <a:off x="5977533" y="4177754"/>
            <a:ext cx="136178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205910" y="4191893"/>
            <a:ext cx="24466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Scalable Architecture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205910" y="4391918"/>
            <a:ext cx="244666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Establish a foundation for future service decomposition and CI/CD.</a:t>
            </a:r>
            <a:endParaRPr lang="en-US" sz="7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C3CF70D-C94E-842C-1277-CB9D8C802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913" y="4688309"/>
            <a:ext cx="2772162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175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Modules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78768"/>
            <a:ext cx="239167" cy="239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44067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1. Buyer Onboarding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1591419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Registration, login, and profile management.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029" y="978768"/>
            <a:ext cx="239167" cy="2391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5029" y="1344067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2. Property Discovery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635029" y="1591419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Browse listings and view detailed property information.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69591"/>
            <a:ext cx="239167" cy="2391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334890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3. Buyer Interaction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96119" y="2582242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properties, express interest, and review history.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029" y="1969591"/>
            <a:ext cx="239167" cy="2391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5029" y="2334890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4. EMI Calculator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635029" y="2582242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Loan amount, interest rate, tenure, and EMI output.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60415"/>
            <a:ext cx="239167" cy="2391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325713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5. Offline &amp; Sync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96119" y="3573066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Room cache, offline access, and network synchronization.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029" y="2960415"/>
            <a:ext cx="239167" cy="23916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35029" y="3325713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6. Notifications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4635029" y="3573066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update alerts via Firebase FCM.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51238"/>
            <a:ext cx="239167" cy="23916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119" y="4316537"/>
            <a:ext cx="4012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7. Property Data Mgmt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496119" y="4563889"/>
            <a:ext cx="401277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and admin-side property entry and maintenance.</a:t>
            </a:r>
            <a:endParaRPr lang="en-US" sz="9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029" y="3951238"/>
            <a:ext cx="239167" cy="239167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635029" y="4316537"/>
            <a:ext cx="401285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8. Future Scalability</a:t>
            </a:r>
            <a:endParaRPr lang="en-US" sz="1150" dirty="0"/>
          </a:p>
        </p:txBody>
      </p:sp>
      <p:sp>
        <p:nvSpPr>
          <p:cNvPr id="26" name="Text 16"/>
          <p:cNvSpPr/>
          <p:nvPr/>
        </p:nvSpPr>
        <p:spPr>
          <a:xfrm>
            <a:off x="4635029" y="4563889"/>
            <a:ext cx="401285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Service decomposition and deployment roadmap.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FBEEFD-8145-C5F5-7CCF-F108CB2009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1838" y="4670395"/>
            <a:ext cx="2772162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904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Software Requirements — Technology Stack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80343"/>
            <a:ext cx="1110853" cy="185142"/>
          </a:xfrm>
          <a:prstGeom prst="roundRect">
            <a:avLst>
              <a:gd name="adj" fmla="val 7897"/>
            </a:avLst>
          </a:prstGeom>
          <a:solidFill>
            <a:srgbClr val="ECE6D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93" y="1124173"/>
            <a:ext cx="97408" cy="97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5268" y="1116881"/>
            <a:ext cx="1275829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CO1 — DATABASE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1368921"/>
            <a:ext cx="1912516" cy="6859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6509" y="1383209"/>
            <a:ext cx="17478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MySQL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46509" y="1678186"/>
            <a:ext cx="174783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 relational database and SQL operations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0879" y="1368921"/>
            <a:ext cx="1912516" cy="6859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75558" y="1383209"/>
            <a:ext cx="17478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MySQL Workbench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2675558" y="1678186"/>
            <a:ext cx="17478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 and schema design tooling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96119" y="2158305"/>
            <a:ext cx="1364754" cy="185142"/>
          </a:xfrm>
          <a:prstGeom prst="roundRect">
            <a:avLst>
              <a:gd name="adj" fmla="val 7897"/>
            </a:avLst>
          </a:prstGeom>
          <a:solidFill>
            <a:srgbClr val="ECE6D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93" y="2202135"/>
            <a:ext cx="97408" cy="974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5268" y="2194843"/>
            <a:ext cx="1529730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CO3 / CO4 — BACKEND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2446883"/>
            <a:ext cx="1912516" cy="6859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6509" y="2461171"/>
            <a:ext cx="17478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Node.js + Express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646509" y="2756148"/>
            <a:ext cx="17478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 API and backend services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0879" y="2446883"/>
            <a:ext cx="1912516" cy="6859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675558" y="2461171"/>
            <a:ext cx="17478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Retrofit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2675558" y="2756148"/>
            <a:ext cx="174783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Android-to-API HTTP communication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3313584"/>
            <a:ext cx="3941564" cy="50475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6509" y="3327871"/>
            <a:ext cx="377688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Postman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646509" y="3622849"/>
            <a:ext cx="377688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API testing and validation</a:t>
            </a:r>
            <a:endParaRPr lang="en-US" sz="950" dirty="0"/>
          </a:p>
        </p:txBody>
      </p:sp>
      <p:sp>
        <p:nvSpPr>
          <p:cNvPr id="24" name="Shape 15"/>
          <p:cNvSpPr/>
          <p:nvPr/>
        </p:nvSpPr>
        <p:spPr>
          <a:xfrm>
            <a:off x="4725367" y="1080343"/>
            <a:ext cx="1356866" cy="185142"/>
          </a:xfrm>
          <a:prstGeom prst="roundRect">
            <a:avLst>
              <a:gd name="adj" fmla="val 7897"/>
            </a:avLst>
          </a:prstGeom>
          <a:solidFill>
            <a:srgbClr val="ECE6DF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8442" y="1124173"/>
            <a:ext cx="97408" cy="974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944517" y="1116881"/>
            <a:ext cx="1521842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 APPLICATION</a:t>
            </a:r>
            <a:endParaRPr lang="en-US" sz="7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1080" y="1368921"/>
            <a:ext cx="1912516" cy="685949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875758" y="1383209"/>
            <a:ext cx="17478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Kotlin + Android</a:t>
            </a:r>
            <a:endParaRPr lang="en-US" sz="1150" dirty="0"/>
          </a:p>
        </p:txBody>
      </p:sp>
      <p:sp>
        <p:nvSpPr>
          <p:cNvPr id="29" name="Text 18"/>
          <p:cNvSpPr/>
          <p:nvPr/>
        </p:nvSpPr>
        <p:spPr>
          <a:xfrm>
            <a:off x="4875758" y="1678186"/>
            <a:ext cx="174783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Native mobile application development</a:t>
            </a:r>
            <a:endParaRPr lang="en-US" sz="9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0128" y="1368921"/>
            <a:ext cx="1912516" cy="685949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904806" y="1383209"/>
            <a:ext cx="17478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Jetpack Compose</a:t>
            </a:r>
            <a:endParaRPr lang="en-US" sz="1150" dirty="0"/>
          </a:p>
        </p:txBody>
      </p:sp>
      <p:sp>
        <p:nvSpPr>
          <p:cNvPr id="32" name="Text 20"/>
          <p:cNvSpPr/>
          <p:nvPr/>
        </p:nvSpPr>
        <p:spPr>
          <a:xfrm>
            <a:off x="6904806" y="1678186"/>
            <a:ext cx="17478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Declarative UI framework</a:t>
            </a:r>
            <a:endParaRPr lang="en-US" sz="9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1080" y="2235622"/>
            <a:ext cx="1912516" cy="504751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875758" y="2249909"/>
            <a:ext cx="17478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Room Database</a:t>
            </a:r>
            <a:endParaRPr lang="en-US" sz="1150" dirty="0"/>
          </a:p>
        </p:txBody>
      </p:sp>
      <p:sp>
        <p:nvSpPr>
          <p:cNvPr id="35" name="Text 22"/>
          <p:cNvSpPr/>
          <p:nvPr/>
        </p:nvSpPr>
        <p:spPr>
          <a:xfrm>
            <a:off x="4875758" y="2544887"/>
            <a:ext cx="17478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Local offline cache layer</a:t>
            </a:r>
            <a:endParaRPr lang="en-US" sz="95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0128" y="2235622"/>
            <a:ext cx="1912516" cy="504751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904806" y="2249909"/>
            <a:ext cx="17478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Firebase FCM</a:t>
            </a:r>
            <a:endParaRPr lang="en-US" sz="1150" dirty="0"/>
          </a:p>
        </p:txBody>
      </p:sp>
      <p:sp>
        <p:nvSpPr>
          <p:cNvPr id="38" name="Text 24"/>
          <p:cNvSpPr/>
          <p:nvPr/>
        </p:nvSpPr>
        <p:spPr>
          <a:xfrm>
            <a:off x="6904806" y="2544887"/>
            <a:ext cx="174783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Push notification delivery</a:t>
            </a:r>
            <a:endParaRPr lang="en-US" sz="950" dirty="0"/>
          </a:p>
        </p:txBody>
      </p:sp>
      <p:sp>
        <p:nvSpPr>
          <p:cNvPr id="39" name="Shape 25"/>
          <p:cNvSpPr/>
          <p:nvPr/>
        </p:nvSpPr>
        <p:spPr>
          <a:xfrm>
            <a:off x="4725367" y="2843808"/>
            <a:ext cx="1103040" cy="185142"/>
          </a:xfrm>
          <a:prstGeom prst="roundRect">
            <a:avLst>
              <a:gd name="adj" fmla="val 7897"/>
            </a:avLst>
          </a:prstGeom>
          <a:solidFill>
            <a:srgbClr val="ECE6DF"/>
          </a:solidFill>
          <a:ln/>
        </p:spPr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8442" y="2887638"/>
            <a:ext cx="97408" cy="9740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4944517" y="2880345"/>
            <a:ext cx="1268016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CO6 — DELIVERY</a:t>
            </a:r>
            <a:endParaRPr lang="en-US" sz="750" dirty="0"/>
          </a:p>
        </p:txBody>
      </p:sp>
      <p:sp>
        <p:nvSpPr>
          <p:cNvPr id="42" name="Text 27"/>
          <p:cNvSpPr/>
          <p:nvPr/>
        </p:nvSpPr>
        <p:spPr>
          <a:xfrm>
            <a:off x="4725367" y="3146673"/>
            <a:ext cx="438447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Git + GitHub for version control and delivery pipeline.</a:t>
            </a:r>
            <a:endParaRPr lang="en-US" sz="950" dirty="0"/>
          </a:p>
        </p:txBody>
      </p:sp>
      <p:sp>
        <p:nvSpPr>
          <p:cNvPr id="43" name="Shape 28"/>
          <p:cNvSpPr/>
          <p:nvPr/>
        </p:nvSpPr>
        <p:spPr>
          <a:xfrm>
            <a:off x="4725367" y="3445594"/>
            <a:ext cx="3927277" cy="1155278"/>
          </a:xfrm>
          <a:prstGeom prst="roundRect">
            <a:avLst>
              <a:gd name="adj" fmla="val 1582"/>
            </a:avLst>
          </a:prstGeom>
          <a:solidFill>
            <a:srgbClr val="ECE6DF"/>
          </a:solidFill>
          <a:ln/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7183" y="3597846"/>
            <a:ext cx="152251" cy="121816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5121250" y="3570238"/>
            <a:ext cx="3409578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CO2 — Comparative / Future Scope:</a:t>
            </a: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SQL vs NoSQL, relational vs document schema, CAP theorem, and polyglot persistence (MongoDB for activity/log data) are considered for comparative study and future extensions — not part of the current core implementation.</a:t>
            </a:r>
            <a:endParaRPr lang="en-US" sz="9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F4B3C7F-60FE-07A5-B322-E24699789B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0305" y="4743394"/>
            <a:ext cx="2772162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5517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System Workflow &amp; Database Design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00" y="999604"/>
            <a:ext cx="4530030" cy="35959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87014" y="2502247"/>
            <a:ext cx="814074" cy="55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System Workflow 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87850" y="1270278"/>
            <a:ext cx="1211079" cy="37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request flow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487850" y="1695516"/>
            <a:ext cx="1211079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 Admin → MySQL → Node.js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469213" y="1428501"/>
            <a:ext cx="1211079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469213" y="1667594"/>
            <a:ext cx="1211079" cy="130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Push updates to Buyer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69213" y="3726149"/>
            <a:ext cx="1211079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journey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469213" y="3965242"/>
            <a:ext cx="1211079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Register → Browse → View Details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87850" y="3726149"/>
            <a:ext cx="1211079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endpoint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487850" y="3965242"/>
            <a:ext cx="1211079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Android → Buyer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924670" y="2528204"/>
            <a:ext cx="1237553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API delivery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924670" y="2767296"/>
            <a:ext cx="1237553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Node.js → Retrofit → HESTIA Android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25774" y="2534822"/>
            <a:ext cx="1237553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Buyer actions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25774" y="2773915"/>
            <a:ext cx="1237553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Save/Interest → EMI → History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68082" y="977057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Compact ER / Database Design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68082" y="1232818"/>
            <a:ext cx="2684487" cy="2559546"/>
          </a:xfrm>
          <a:prstGeom prst="roundRect">
            <a:avLst>
              <a:gd name="adj" fmla="val 62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68082" y="1642690"/>
            <a:ext cx="2684487" cy="66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968082" y="1901354"/>
            <a:ext cx="2684487" cy="66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968082" y="2160017"/>
            <a:ext cx="2684487" cy="66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968082" y="2567508"/>
            <a:ext cx="2684487" cy="66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968082" y="2975000"/>
            <a:ext cx="2684487" cy="66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968082" y="3382491"/>
            <a:ext cx="2684487" cy="66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079554" y="1290117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Entity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970961" y="1290117"/>
            <a:ext cx="6788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Primary Key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862367" y="1290117"/>
            <a:ext cx="6788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Foreign Keys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079554" y="1697608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970961" y="1697608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user_id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862367" y="1697608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—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079554" y="1956271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970961" y="1956271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property_id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862367" y="1956271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—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079554" y="2214935"/>
            <a:ext cx="6788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PROPERTY_IMAGE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970961" y="2214935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image_id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862367" y="2214935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property_id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079554" y="2622426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FAVOURITE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970961" y="2622426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favourite_id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862367" y="2622426"/>
            <a:ext cx="6788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user_id, property_id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079554" y="3029917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INTEREST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970961" y="3029917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interest_id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862367" y="3029917"/>
            <a:ext cx="6788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user_id, property_id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079554" y="3437409"/>
            <a:ext cx="6788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ACTIVITY_HISTORY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970961" y="3437409"/>
            <a:ext cx="113607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activity_id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862367" y="3437409"/>
            <a:ext cx="6788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user_id, property_id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968082" y="3882033"/>
            <a:ext cx="268448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Logical relationships: USER 1:N FAVOURITE, USER 1:N INTEREST, USER 1:N ACTIVITY_HISTORY; PROPERTY 1:N PROPERTY_IMAGE. USER and PROPERTY interact through FAVOURITE and INTEREST junction entities.</a:t>
            </a:r>
            <a:endParaRPr lang="en-US" sz="8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059D500-ED28-8E9A-8F2D-CABE9C735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38" y="4697983"/>
            <a:ext cx="2772162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159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 &amp; Future Scope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496119" y="801365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70806"/>
            <a:ext cx="3978622" cy="529828"/>
          </a:xfrm>
          <a:prstGeom prst="rect">
            <a:avLst/>
          </a:prstGeom>
          <a:noFill/>
          <a:ln/>
        </p:spPr>
        <p:txBody>
          <a:bodyPr wrap="square" lIns="0" tIns="31898" rIns="0" bIns="0" rtlCol="0" anchor="t">
            <a:normAutofit/>
          </a:bodyPr>
          <a:lstStyle/>
          <a:p>
            <a:pPr marL="121920" indent="-12192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HESTIA combines relational database engineering, REST API backend, and Android mobile application development into a unified buyer self-service platform.</a:t>
            </a:r>
            <a:endParaRPr lang="en-US" sz="600" dirty="0"/>
          </a:p>
          <a:p>
            <a:pPr marL="121920" indent="-12192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design includes offline caching, buyer activity management, EMI calculation, and push notifications.</a:t>
            </a:r>
            <a:endParaRPr lang="en-US" sz="600" dirty="0"/>
          </a:p>
          <a:p>
            <a:pPr marL="121920" indent="-12192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CO1, CO3, and CO4 are represented through the current relational, API, and Node.js/Express core architecture.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96119" y="1545431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Planned Scalable Architecture </a:t>
            </a:r>
            <a:r>
              <a:rPr lang="en-US" sz="750" dirty="0">
                <a:solidFill>
                  <a:srgbClr val="6B8F71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(Future)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6119" y="1714872"/>
            <a:ext cx="3978622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current prototype uses a centralized MySQL database and Node.js/Express backend. Microservice decomposition is a planned scalability extension.</a:t>
            </a:r>
            <a:endParaRPr lang="en-US" sz="600" dirty="0"/>
          </a:p>
          <a:p>
            <a:pPr marL="0" indent="0" algn="l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6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 → USER SERVICE / PROPERTY SERVICE / ACTIVITY SERVICE → DB-PER-SERVICE</a:t>
            </a:r>
            <a:endParaRPr lang="en-US" sz="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Planned concepts: service boundaries, API Gateway, centralized auth/token forwarding, resilience, timeouts, and Saga / compensating actions.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674022" y="801365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Planned Deployment &amp; Delivery Roadmap </a:t>
            </a:r>
            <a:r>
              <a:rPr lang="en-US" sz="750" dirty="0">
                <a:solidFill>
                  <a:srgbClr val="6B8F71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(Future)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74022" y="976461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674022" y="1102370"/>
            <a:ext cx="3978622" cy="9525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" name="Text 8"/>
          <p:cNvSpPr/>
          <p:nvPr/>
        </p:nvSpPr>
        <p:spPr>
          <a:xfrm>
            <a:off x="4674022" y="1161231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System Assembly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74022" y="1330672"/>
            <a:ext cx="397862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 + REST API + MySQL integration; request-flow documentation.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674022" y="1534939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674022" y="1660847"/>
            <a:ext cx="3978622" cy="9525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674022" y="1719709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Containerisation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74022" y="1889150"/>
            <a:ext cx="397862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Dockerfile, Docker Compose, container networking.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674022" y="2093416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674022" y="2219325"/>
            <a:ext cx="3978622" cy="9525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6"/>
          <p:cNvSpPr/>
          <p:nvPr/>
        </p:nvSpPr>
        <p:spPr>
          <a:xfrm>
            <a:off x="4674022" y="2278187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Deployment Awareness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74022" y="2447627"/>
            <a:ext cx="397862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Kubernetes Pods, Deployments, Services and Ingress basics.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674022" y="2651894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674022" y="2777803"/>
            <a:ext cx="3978622" cy="9525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2" name="Text 20"/>
          <p:cNvSpPr/>
          <p:nvPr/>
        </p:nvSpPr>
        <p:spPr>
          <a:xfrm>
            <a:off x="4674022" y="2836664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Observability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74022" y="3006105"/>
            <a:ext cx="397862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OpenTelemetry, Prometheus and Grafana dashboards.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674022" y="3210371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674022" y="3336280"/>
            <a:ext cx="3978622" cy="9525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674022" y="3395142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CI/CD &amp; Security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74022" y="3564582"/>
            <a:ext cx="397862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GitHub Actions, automated testing, image scanning, OWASP practices.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74022" y="3768849"/>
            <a:ext cx="159469" cy="99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06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674022" y="3894758"/>
            <a:ext cx="3978622" cy="9525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30" name="Text 28"/>
          <p:cNvSpPr/>
          <p:nvPr/>
        </p:nvSpPr>
        <p:spPr>
          <a:xfrm>
            <a:off x="4674022" y="3953619"/>
            <a:ext cx="3978622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Documentation &amp; Showcase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74022" y="4123060"/>
            <a:ext cx="397862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C4 architecture diagrams, README, load testing, final demo.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4674022" y="4332982"/>
            <a:ext cx="3978622" cy="319832"/>
          </a:xfrm>
          <a:prstGeom prst="roundRect">
            <a:avLst>
              <a:gd name="adj" fmla="val 3740"/>
            </a:avLst>
          </a:prstGeom>
          <a:solidFill>
            <a:srgbClr val="ECE6DF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19" y="4399285"/>
            <a:ext cx="99640" cy="79697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933057" y="4393183"/>
            <a:ext cx="3639889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Additional future scope: admin portal, advanced search/filtering, map-based discovery, personalized recommendations, and polyglot persistence.</a:t>
            </a:r>
            <a:endParaRPr lang="en-US" sz="6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5CF36A4-DD69-1B10-2682-7D6EE435C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38" y="4703341"/>
            <a:ext cx="2772162" cy="400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1256</Words>
  <Application>Microsoft Office PowerPoint</Application>
  <PresentationFormat>On-screen Show (16:9)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Gelasio Bold</vt:lpstr>
      <vt:lpstr>Consolas</vt:lpstr>
      <vt:lpstr>Arial</vt:lpstr>
      <vt:lpstr>Gelasio SemiBold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Faizaan Mohammad</dc:creator>
  <cp:lastModifiedBy>Faizaan Mohammad</cp:lastModifiedBy>
  <cp:revision>1</cp:revision>
  <dcterms:created xsi:type="dcterms:W3CDTF">2026-08-17T06:59:24Z</dcterms:created>
  <dcterms:modified xsi:type="dcterms:W3CDTF">2026-08-17T17:01:48Z</dcterms:modified>
</cp:coreProperties>
</file>