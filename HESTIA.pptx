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Gelasio" panose="020B0604020202020204" charset="0"/>
      <p:regular r:id="rId18"/>
    </p:embeddedFont>
    <p:embeddedFont>
      <p:font typeface="Gelasio Bold" panose="020B0604020202020204" charset="0"/>
      <p:regular r:id="rId19"/>
    </p:embeddedFont>
    <p:embeddedFont>
      <p:font typeface="Gelasio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60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.pn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2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19739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HESTIA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4021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15C72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Real Estate Mobile App for Buyer Self-Service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56682" y="321895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 Where You Belong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78122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74655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066480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DBSE Project — 1st Review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Faizaan — 2520030359  |  Ishaan Kulkarni — 2520030267  |  Abhiram Koppisetty — 2520030357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707CA0-A887-7E2E-6E28-6AAC7D22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904" y="6423935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280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2583160"/>
            <a:ext cx="356047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is a buyer-focused Android mobile application that provides a self-service platform for discovering and managing real-estate properties.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940" y="1330623"/>
            <a:ext cx="6933530" cy="31731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81748" y="1747175"/>
            <a:ext cx="1533739" cy="19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API &amp; Database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81748" y="1993431"/>
            <a:ext cx="1690520" cy="277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Node.js/Express REST API and MySQL storage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87419" y="2790143"/>
            <a:ext cx="1533739" cy="19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Retrofit Layer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66969" y="3036400"/>
            <a:ext cx="1554188" cy="277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HTTP client for network requests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681748" y="3328669"/>
            <a:ext cx="1533739" cy="19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Android App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81748" y="3574926"/>
            <a:ext cx="1690520" cy="277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Buyer-facing mobile interface and features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84328"/>
            <a:ext cx="3539739" cy="15503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0210" y="4956870"/>
            <a:ext cx="311846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Features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10210" y="5271591"/>
            <a:ext cx="3118467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Registration, login, property discovery, property details, saved properties, expressions of interest, EMI calculation, profile access and activity history.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5928" y="4784328"/>
            <a:ext cx="3539739" cy="15503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4664" y="4956870"/>
            <a:ext cx="311846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Access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4664" y="5271591"/>
            <a:ext cx="3118467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Previously loaded property information remains available offline through a Room local cache.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0382" y="4784328"/>
            <a:ext cx="3539739" cy="15503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39117" y="4956870"/>
            <a:ext cx="311846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239117" y="5271591"/>
            <a:ext cx="311846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update notifications delivered through Firebase FCM.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508851-8922-54D7-17FE-6F1D12053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4904" y="6355411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4973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Introduction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1543943"/>
            <a:ext cx="293233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The Problem Space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61475" y="1986955"/>
            <a:ext cx="2932337" cy="347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Real-estate buyers need to search and compare multiple properties across fragmented sources.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Buyer activities and property interactions lack a centralized platform.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Internet dependency prevents access to previously viewed information.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provides a unified buyer self-service platform to address all of these gaps.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032348" y="1564680"/>
            <a:ext cx="2932337" cy="2045395"/>
          </a:xfrm>
          <a:prstGeom prst="roundRect">
            <a:avLst>
              <a:gd name="adj" fmla="val 1300"/>
            </a:avLst>
          </a:prstGeom>
          <a:solidFill>
            <a:srgbClr val="EEE8DD"/>
          </a:solidFill>
          <a:ln/>
        </p:spPr>
      </p:sp>
      <p:sp>
        <p:nvSpPr>
          <p:cNvPr id="7" name="Text 4"/>
          <p:cNvSpPr/>
          <p:nvPr/>
        </p:nvSpPr>
        <p:spPr>
          <a:xfrm>
            <a:off x="4209548" y="1741884"/>
            <a:ext cx="257793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Target User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209548" y="2184896"/>
            <a:ext cx="2577936" cy="124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BUYER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seekers requiring discovery, comparison, and management tools in one place.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32348" y="3776166"/>
            <a:ext cx="2932337" cy="2320032"/>
          </a:xfrm>
          <a:prstGeom prst="roundRect">
            <a:avLst>
              <a:gd name="adj" fmla="val 1146"/>
            </a:avLst>
          </a:prstGeom>
          <a:solidFill>
            <a:srgbClr val="EEE8DD"/>
          </a:solidFill>
          <a:ln/>
        </p:spPr>
      </p:sp>
      <p:sp>
        <p:nvSpPr>
          <p:cNvPr id="10" name="Text 7"/>
          <p:cNvSpPr/>
          <p:nvPr/>
        </p:nvSpPr>
        <p:spPr>
          <a:xfrm>
            <a:off x="4209548" y="3953371"/>
            <a:ext cx="257793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Domain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209548" y="4396383"/>
            <a:ext cx="2577936" cy="152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REAL ESTATE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discovery and buyer activity management through a mobile-first self-service platform.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75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Existing System —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40123"/>
            <a:ext cx="11478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real-estate buyer experiences are fragmented across tools, platforms, and manual processes. Key limitations identified: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6008"/>
            <a:ext cx="10868745" cy="744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9150" y="165179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251613" y="1532731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Scattered Information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51613" y="1775321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data is spread across multiple sources with no unified view.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21607"/>
            <a:ext cx="10868745" cy="744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9150" y="2477393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251613" y="2358330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Multi-Step Interest Management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51613" y="2600920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Registering buyer interest requires navigating multiple disconnected steps.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47206"/>
            <a:ext cx="10868745" cy="744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9150" y="3302992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251613" y="3183930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Connectivity Dependency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51613" y="3426520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offline access to previously viewed property information.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72805"/>
            <a:ext cx="10868745" cy="744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9150" y="4128591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251613" y="4009529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 Integrated EMI Tool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51613" y="4252119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EMI estimation requires a separate external calculator.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98405"/>
            <a:ext cx="10868745" cy="744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9150" y="4954191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251613" y="4835128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 Activity History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251613" y="5077718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Buyer browsing and interaction history is not centralized or retrievable.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24004"/>
            <a:ext cx="10868745" cy="7442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9150" y="5779790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1251613" y="5660727"/>
            <a:ext cx="101418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Delayed Updates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251613" y="5903317"/>
            <a:ext cx="1014188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status changes are difficult to track in real time.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C9C088F-0292-2E4F-BA9B-3F7A46C18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904" y="6404967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286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Problem Statement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905051" y="1643955"/>
            <a:ext cx="1062516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"How can we provide property buyers with a single mobile platform to discover properties, manage their interests, estimate EMI, maintain activity history, and access previously loaded property information even when connectivity is unavailable?"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486991"/>
            <a:ext cx="19050" cy="797123"/>
          </a:xfrm>
          <a:prstGeom prst="roundRect">
            <a:avLst>
              <a:gd name="adj" fmla="val 49999"/>
            </a:avLst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493466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Challenge Areas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2956620"/>
            <a:ext cx="5364624" cy="1530747"/>
          </a:xfrm>
          <a:prstGeom prst="roundRect">
            <a:avLst>
              <a:gd name="adj" fmla="val 1592"/>
            </a:avLst>
          </a:prstGeom>
          <a:solidFill>
            <a:srgbClr val="EEE8DD"/>
          </a:solidFill>
          <a:ln/>
        </p:spPr>
      </p:sp>
      <p:sp>
        <p:nvSpPr>
          <p:cNvPr id="7" name="Shape 5"/>
          <p:cNvSpPr/>
          <p:nvPr/>
        </p:nvSpPr>
        <p:spPr>
          <a:xfrm>
            <a:off x="823892" y="3119041"/>
            <a:ext cx="487251" cy="487263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34" y="3252986"/>
            <a:ext cx="219268" cy="219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3892" y="3745805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Property Discovery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3892" y="4083348"/>
            <a:ext cx="50397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 and inspect available listings from a single interface.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65597" y="2956620"/>
            <a:ext cx="5364624" cy="1530747"/>
          </a:xfrm>
          <a:prstGeom prst="roundRect">
            <a:avLst>
              <a:gd name="adj" fmla="val 1592"/>
            </a:avLst>
          </a:prstGeom>
          <a:solidFill>
            <a:srgbClr val="EEE8DD"/>
          </a:solidFill>
          <a:ln/>
        </p:spPr>
      </p:sp>
      <p:sp>
        <p:nvSpPr>
          <p:cNvPr id="12" name="Shape 9"/>
          <p:cNvSpPr/>
          <p:nvPr/>
        </p:nvSpPr>
        <p:spPr>
          <a:xfrm>
            <a:off x="6328014" y="3119041"/>
            <a:ext cx="487251" cy="487263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1956" y="3252986"/>
            <a:ext cx="219268" cy="219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28014" y="3745805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Activity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328014" y="4083348"/>
            <a:ext cx="50397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properties, express interest, and review interaction history.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61475" y="4626868"/>
            <a:ext cx="5364624" cy="1530747"/>
          </a:xfrm>
          <a:prstGeom prst="roundRect">
            <a:avLst>
              <a:gd name="adj" fmla="val 1592"/>
            </a:avLst>
          </a:prstGeom>
          <a:solidFill>
            <a:srgbClr val="EEE8DD"/>
          </a:solidFill>
          <a:ln/>
        </p:spPr>
      </p:sp>
      <p:sp>
        <p:nvSpPr>
          <p:cNvPr id="17" name="Shape 13"/>
          <p:cNvSpPr/>
          <p:nvPr/>
        </p:nvSpPr>
        <p:spPr>
          <a:xfrm>
            <a:off x="823892" y="4789289"/>
            <a:ext cx="487251" cy="487263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834" y="4923234"/>
            <a:ext cx="219268" cy="219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92" y="5416054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Access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3892" y="5753596"/>
            <a:ext cx="50397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 previously loaded property data without network connectivity.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65597" y="4626868"/>
            <a:ext cx="5364624" cy="1530747"/>
          </a:xfrm>
          <a:prstGeom prst="roundRect">
            <a:avLst>
              <a:gd name="adj" fmla="val 1592"/>
            </a:avLst>
          </a:prstGeom>
          <a:solidFill>
            <a:srgbClr val="EEE8DD"/>
          </a:solidFill>
          <a:ln/>
        </p:spPr>
      </p:sp>
      <p:sp>
        <p:nvSpPr>
          <p:cNvPr id="22" name="Shape 17"/>
          <p:cNvSpPr/>
          <p:nvPr/>
        </p:nvSpPr>
        <p:spPr>
          <a:xfrm>
            <a:off x="6328014" y="4789289"/>
            <a:ext cx="487251" cy="487263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1956" y="4923234"/>
            <a:ext cx="219268" cy="219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28014" y="5416054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Timely Updates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328014" y="5753596"/>
            <a:ext cx="50397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Receive push notifications for property status changes.</a:t>
            </a:r>
            <a:endParaRPr lang="en-US" sz="12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245FB-80B9-2266-1812-F6A2BAC02D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4904" y="6438864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233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Solution / Contribution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148953"/>
            <a:ext cx="108687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is the proposed integrated buyer self-service platform combining relational database engineering, RESTful backend services, offline caching, and property update notifications.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55" y="1742083"/>
            <a:ext cx="5955953" cy="44768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17642" y="3830896"/>
            <a:ext cx="1268962" cy="603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HESTIA Architecture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15100" y="4978424"/>
            <a:ext cx="1615917" cy="24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path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15100" y="5297448"/>
            <a:ext cx="1615917" cy="512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Android → Room cache → Sync on restore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26643" y="4939512"/>
            <a:ext cx="1615917" cy="4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Notification path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426643" y="5506912"/>
            <a:ext cx="1615917" cy="34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→ Firebase FCM → Buyer device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98794" y="2042076"/>
            <a:ext cx="1660071" cy="24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path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298794" y="2361100"/>
            <a:ext cx="1660071" cy="512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Buyer → Android → Retrofit → Node.js → MySQL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7818" y="2454672"/>
            <a:ext cx="3588652" cy="10185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78893" y="2609552"/>
            <a:ext cx="320270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Path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178893" y="2919512"/>
            <a:ext cx="3202701" cy="398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BUYER → ANDROID → RETROFIT → NODE.JS/EXPRESS → MYSQL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7818" y="3570883"/>
            <a:ext cx="3588652" cy="10185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78893" y="3725763"/>
            <a:ext cx="320270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Path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78893" y="4035723"/>
            <a:ext cx="3202701" cy="398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→ ROOM CACHE → OFFLINE ACCESS → SYNC ON RESTORE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7818" y="4687094"/>
            <a:ext cx="3588652" cy="8191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78893" y="4841974"/>
            <a:ext cx="320270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Notification Path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78893" y="5151934"/>
            <a:ext cx="3202701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→ FIREBASE FCM → BUYER DEVICE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F5711A5-19BC-462C-CAB2-126B7BCEB9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4904" y="6438864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7198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Objectives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3884"/>
            <a:ext cx="6961311" cy="39448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24403" y="1179016"/>
            <a:ext cx="272448" cy="272455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7969844" y="1201738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74339" y="1220589"/>
            <a:ext cx="326213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Normalized Relational Database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274339" y="1487289"/>
            <a:ext cx="326213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 a structured and normalized MySQL schema.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924403" y="1801217"/>
            <a:ext cx="272448" cy="272455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7969844" y="1823938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74339" y="1842790"/>
            <a:ext cx="326213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ER Modelling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74339" y="2109490"/>
            <a:ext cx="326213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users, properties and buyer activities using ER concepts.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24403" y="2582267"/>
            <a:ext cx="272448" cy="272455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7969844" y="2604988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74339" y="2623840"/>
            <a:ext cx="326213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REST API Development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74339" y="2890540"/>
            <a:ext cx="326213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Node.js + Express APIs for all application operations.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924403" y="3363317"/>
            <a:ext cx="272448" cy="272455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7" name="Text 14"/>
          <p:cNvSpPr/>
          <p:nvPr/>
        </p:nvSpPr>
        <p:spPr>
          <a:xfrm>
            <a:off x="7969844" y="3386038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74339" y="3404890"/>
            <a:ext cx="326213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Android Application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74339" y="3671590"/>
            <a:ext cx="326213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 a buyer-friendly Kotlin + Jetpack Compose mobile app.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24403" y="4144367"/>
            <a:ext cx="272448" cy="272455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1" name="Text 18"/>
          <p:cNvSpPr/>
          <p:nvPr/>
        </p:nvSpPr>
        <p:spPr>
          <a:xfrm>
            <a:off x="7969844" y="4167088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74339" y="4185940"/>
            <a:ext cx="326213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Caching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274339" y="4452640"/>
            <a:ext cx="326213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Support offline property access through Room local cache.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924403" y="4766568"/>
            <a:ext cx="272448" cy="272455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5" name="Text 22"/>
          <p:cNvSpPr/>
          <p:nvPr/>
        </p:nvSpPr>
        <p:spPr>
          <a:xfrm>
            <a:off x="7969844" y="4789289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74339" y="4808141"/>
            <a:ext cx="326213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EMI &amp; Activity Tracking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274339" y="5074841"/>
            <a:ext cx="326213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 EMI calculation and centralized buyer activity history.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924403" y="5547618"/>
            <a:ext cx="272448" cy="272455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9" name="Text 26"/>
          <p:cNvSpPr/>
          <p:nvPr/>
        </p:nvSpPr>
        <p:spPr>
          <a:xfrm>
            <a:off x="7969844" y="5570339"/>
            <a:ext cx="181566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74339" y="5589191"/>
            <a:ext cx="326213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Scalable Architecture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274339" y="5855891"/>
            <a:ext cx="326213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Establish a foundation for future service decomposition and CI/CD.</a:t>
            </a:r>
            <a:endParaRPr lang="en-US" sz="9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6308750-EDFB-B933-ADA6-4B9BA013C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022" y="6363848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56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Modules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05024"/>
            <a:ext cx="318881" cy="3188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92089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1. Buyer Onboarding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121892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Registration, login, and profile management.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9884" y="1305024"/>
            <a:ext cx="318881" cy="3188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9884" y="1792089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2. Property Discovery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179884" y="2121892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Browse listings and view detailed property information.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26122"/>
            <a:ext cx="318881" cy="3188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113187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3. Buyer Interaction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61475" y="3442990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properties, express interest, and review history.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9884" y="2626122"/>
            <a:ext cx="318881" cy="3188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9884" y="3113187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4. EMI Calculator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179884" y="3442990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Loan amount, interest rate, tenure, and EMI output.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47220"/>
            <a:ext cx="318881" cy="3188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434284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5. Offline &amp; Sync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61475" y="4764088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Room cache, offline access, and network synchronization.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9884" y="3947220"/>
            <a:ext cx="318881" cy="31888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79884" y="4434284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6. Notifications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6179884" y="4764088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update alerts via Firebase FCM.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68317"/>
            <a:ext cx="318881" cy="31888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1475" y="5755382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7. Property Data Mgmt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661475" y="6085185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and admin-side property entry and maintenance.</a:t>
            </a:r>
            <a:endParaRPr lang="en-US" sz="12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9884" y="5268317"/>
            <a:ext cx="318881" cy="31888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79884" y="5755382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8. Future Scalability</a:t>
            </a:r>
            <a:endParaRPr lang="en-US" sz="1550" dirty="0"/>
          </a:p>
        </p:txBody>
      </p:sp>
      <p:sp>
        <p:nvSpPr>
          <p:cNvPr id="26" name="Text 16"/>
          <p:cNvSpPr/>
          <p:nvPr/>
        </p:nvSpPr>
        <p:spPr>
          <a:xfrm>
            <a:off x="6179884" y="6085185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Service decomposition and deployment roadmap.</a:t>
            </a:r>
            <a:endParaRPr lang="en-US" sz="12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0E7ED29-3F5C-768D-86F5-78B4D98AB4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4904" y="6400998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539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Software Requirements — Technology Stack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440458"/>
            <a:ext cx="1481100" cy="246856"/>
          </a:xfrm>
          <a:prstGeom prst="roundRect">
            <a:avLst>
              <a:gd name="adj" fmla="val 7896"/>
            </a:avLst>
          </a:prstGeom>
          <a:solidFill>
            <a:srgbClr val="ECE6D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05" y="1498898"/>
            <a:ext cx="129874" cy="129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3667" y="1489174"/>
            <a:ext cx="170106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CO1 — DATABASE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1825228"/>
            <a:ext cx="2549957" cy="9145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1991" y="1844278"/>
            <a:ext cx="23303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MySQL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61991" y="2237581"/>
            <a:ext cx="233039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 relational database and SQL operations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755" y="1825228"/>
            <a:ext cx="2549957" cy="9145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67321" y="1844278"/>
            <a:ext cx="23303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MySQL Workbench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3567321" y="2237581"/>
            <a:ext cx="233039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 and schema design tooling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61475" y="2877741"/>
            <a:ext cx="1819626" cy="246856"/>
          </a:xfrm>
          <a:prstGeom prst="roundRect">
            <a:avLst>
              <a:gd name="adj" fmla="val 7896"/>
            </a:avLst>
          </a:prstGeom>
          <a:solidFill>
            <a:srgbClr val="ECE6D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05" y="2936180"/>
            <a:ext cx="129874" cy="1298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3667" y="2926457"/>
            <a:ext cx="2039589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CO3 / CO4 — BACKEND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262511"/>
            <a:ext cx="2549957" cy="91459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1991" y="3281561"/>
            <a:ext cx="23303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Node.js + Express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861991" y="3674864"/>
            <a:ext cx="233039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 API and backend services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755" y="3262511"/>
            <a:ext cx="2549957" cy="91459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567321" y="3281561"/>
            <a:ext cx="23303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Retrofit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3567321" y="3674864"/>
            <a:ext cx="233039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Android-to-API HTTP communication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425" y="4418112"/>
            <a:ext cx="5255287" cy="67300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61991" y="4437162"/>
            <a:ext cx="503572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Postman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861991" y="4830465"/>
            <a:ext cx="503572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API testing and validation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6300332" y="1440458"/>
            <a:ext cx="1809109" cy="246856"/>
          </a:xfrm>
          <a:prstGeom prst="roundRect">
            <a:avLst>
              <a:gd name="adj" fmla="val 7896"/>
            </a:avLst>
          </a:prstGeom>
          <a:solidFill>
            <a:srgbClr val="ECE6DF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7763" y="1498898"/>
            <a:ext cx="129874" cy="129877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592524" y="1489174"/>
            <a:ext cx="202907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 APPLICATION</a:t>
            </a:r>
            <a:endParaRPr lang="en-US" sz="10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1283" y="1825228"/>
            <a:ext cx="2549957" cy="91459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500848" y="1844278"/>
            <a:ext cx="23303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Kotlin + Android</a:t>
            </a:r>
            <a:endParaRPr lang="en-US" sz="1550" dirty="0"/>
          </a:p>
        </p:txBody>
      </p:sp>
      <p:sp>
        <p:nvSpPr>
          <p:cNvPr id="29" name="Text 18"/>
          <p:cNvSpPr/>
          <p:nvPr/>
        </p:nvSpPr>
        <p:spPr>
          <a:xfrm>
            <a:off x="6500848" y="2237581"/>
            <a:ext cx="233039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Native mobile application development</a:t>
            </a:r>
            <a:endParaRPr lang="en-US" sz="12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6613" y="1825228"/>
            <a:ext cx="2549957" cy="91459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9206178" y="1844278"/>
            <a:ext cx="23303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Jetpack Compose</a:t>
            </a:r>
            <a:endParaRPr lang="en-US" sz="1550" dirty="0"/>
          </a:p>
        </p:txBody>
      </p:sp>
      <p:sp>
        <p:nvSpPr>
          <p:cNvPr id="32" name="Text 20"/>
          <p:cNvSpPr/>
          <p:nvPr/>
        </p:nvSpPr>
        <p:spPr>
          <a:xfrm>
            <a:off x="9206178" y="2237581"/>
            <a:ext cx="233039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Declarative UI framework</a:t>
            </a:r>
            <a:endParaRPr lang="en-US" sz="12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1283" y="2980829"/>
            <a:ext cx="2549957" cy="673001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500848" y="2999879"/>
            <a:ext cx="23303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Room Database</a:t>
            </a:r>
            <a:endParaRPr lang="en-US" sz="1550" dirty="0"/>
          </a:p>
        </p:txBody>
      </p:sp>
      <p:sp>
        <p:nvSpPr>
          <p:cNvPr id="35" name="Text 22"/>
          <p:cNvSpPr/>
          <p:nvPr/>
        </p:nvSpPr>
        <p:spPr>
          <a:xfrm>
            <a:off x="6500848" y="3393182"/>
            <a:ext cx="233039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Local offline cache layer</a:t>
            </a:r>
            <a:endParaRPr lang="en-US" sz="125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6613" y="2980829"/>
            <a:ext cx="2549957" cy="673001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9206178" y="2999879"/>
            <a:ext cx="23303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Firebase FCM</a:t>
            </a:r>
            <a:endParaRPr lang="en-US" sz="1550" dirty="0"/>
          </a:p>
        </p:txBody>
      </p:sp>
      <p:sp>
        <p:nvSpPr>
          <p:cNvPr id="38" name="Text 24"/>
          <p:cNvSpPr/>
          <p:nvPr/>
        </p:nvSpPr>
        <p:spPr>
          <a:xfrm>
            <a:off x="9206178" y="3393182"/>
            <a:ext cx="233039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Push notification delivery</a:t>
            </a:r>
            <a:endParaRPr lang="en-US" sz="1250" dirty="0"/>
          </a:p>
        </p:txBody>
      </p:sp>
      <p:sp>
        <p:nvSpPr>
          <p:cNvPr id="39" name="Shape 25"/>
          <p:cNvSpPr/>
          <p:nvPr/>
        </p:nvSpPr>
        <p:spPr>
          <a:xfrm>
            <a:off x="6300332" y="3791744"/>
            <a:ext cx="1470683" cy="246856"/>
          </a:xfrm>
          <a:prstGeom prst="roundRect">
            <a:avLst>
              <a:gd name="adj" fmla="val 7896"/>
            </a:avLst>
          </a:prstGeom>
          <a:solidFill>
            <a:srgbClr val="ECE6DF"/>
          </a:solidFill>
          <a:ln/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7763" y="3850184"/>
            <a:ext cx="129874" cy="129877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592524" y="3840460"/>
            <a:ext cx="169064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CO6 — DELIVERY</a:t>
            </a:r>
            <a:endParaRPr lang="en-US" sz="1000" dirty="0"/>
          </a:p>
        </p:txBody>
      </p:sp>
      <p:sp>
        <p:nvSpPr>
          <p:cNvPr id="42" name="Text 27"/>
          <p:cNvSpPr/>
          <p:nvPr/>
        </p:nvSpPr>
        <p:spPr>
          <a:xfrm>
            <a:off x="6300332" y="4195564"/>
            <a:ext cx="584582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Git + GitHub for version control and delivery pipeline.</a:t>
            </a:r>
            <a:endParaRPr lang="en-US" sz="1250" dirty="0"/>
          </a:p>
        </p:txBody>
      </p:sp>
      <p:sp>
        <p:nvSpPr>
          <p:cNvPr id="43" name="Shape 28"/>
          <p:cNvSpPr/>
          <p:nvPr/>
        </p:nvSpPr>
        <p:spPr>
          <a:xfrm>
            <a:off x="6300332" y="4594126"/>
            <a:ext cx="5236238" cy="1540371"/>
          </a:xfrm>
          <a:prstGeom prst="roundRect">
            <a:avLst>
              <a:gd name="adj" fmla="val 1582"/>
            </a:avLst>
          </a:prstGeom>
          <a:solidFill>
            <a:srgbClr val="ECE6DF"/>
          </a:solidFill>
          <a:ln/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749" y="4797127"/>
            <a:ext cx="202996" cy="162421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828163" y="4760317"/>
            <a:ext cx="4545990" cy="12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CO2 — Comparative / Future Scope:</a:t>
            </a: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SQL vs NoSQL, relational vs document schema, CAP theorem, and polyglot persistence (MongoDB for activity/log data) are considered for comparative study and future extensions — not part of the current core implementation.</a:t>
            </a:r>
            <a:endParaRPr lang="en-US" sz="12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DFC9163-FF8D-D30B-391A-9C3984DA0A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9059" y="6438864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02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System Workflow &amp; Database Design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06" y="1332805"/>
            <a:ext cx="6039890" cy="47946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82596" y="3336329"/>
            <a:ext cx="1085404" cy="744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System Workflow Overview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50351" y="1693704"/>
            <a:ext cx="1614732" cy="496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request flow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650351" y="2260688"/>
            <a:ext cx="1614732" cy="347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Admin → MySQL → Node.js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958901" y="1904668"/>
            <a:ext cx="1614732" cy="24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Notifications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58901" y="2223459"/>
            <a:ext cx="1614732" cy="17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Push updates to Buyer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958901" y="4968199"/>
            <a:ext cx="1614732" cy="24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journey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958901" y="5286989"/>
            <a:ext cx="1614732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Register → Browse → View Details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50351" y="4968199"/>
            <a:ext cx="1614732" cy="24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endpoint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650351" y="5286989"/>
            <a:ext cx="1614732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Android → Buyer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232763" y="3370938"/>
            <a:ext cx="1650029" cy="24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API delivery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232763" y="3689729"/>
            <a:ext cx="1650029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Node.js → Retrofit → HESTIA Android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367665" y="3379763"/>
            <a:ext cx="1650030" cy="24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actions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367665" y="3698553"/>
            <a:ext cx="1650030" cy="347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Save/Interest → EMI → History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57244" y="1302742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Compact ER / Database Design</a:t>
            </a:r>
            <a:endParaRPr lang="en-US" sz="13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7244" y="1643757"/>
          <a:ext cx="3579228" cy="3399942"/>
        </p:xfrm>
        <a:graphic>
          <a:graphicData uri="http://schemas.openxmlformats.org/drawingml/2006/table">
            <a:tbl>
              <a:tblPr/>
              <a:tblGrid>
                <a:gridCol w="1193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1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Entity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Primary Key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Foreign Keys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USER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user_id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—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PROPERTY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property_id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—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PROPERTY_IMAGE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image_id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property_id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FAVOURITE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favourite_id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user_id, property_id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INTEREST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interest_id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user_id, property_id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1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ACTIVITY_HISTORY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activity_id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746558"/>
                          </a:solidFill>
                          <a:latin typeface="Gelasio" pitchFamily="34" charset="0"/>
                          <a:ea typeface="Gelasio" pitchFamily="34" charset="-122"/>
                          <a:cs typeface="Gelasio" pitchFamily="34" charset="-120"/>
                        </a:rPr>
                        <a:t>user_id, property_id</a:t>
                      </a:r>
                      <a:endParaRPr lang="en-US" sz="1100" dirty="0">
                        <a:latin typeface="Gelasio" charset="0"/>
                        <a:ea typeface="Gelasio" charset="0"/>
                        <a:cs typeface="Gelasi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9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E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957244" y="5176044"/>
            <a:ext cx="3579227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Logical relationships: USER 1:N FAVOURITE, USER 1:N INTEREST, USER 1:N ACTIVITY_HISTORY; PROPERTY 1:N PROPERTY_IMAGE. USER and PROPERTY interact through FAVOURITE and INTEREST junction entities.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BD031C-8A2B-B6A6-86E9-5A020CA79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904" y="6438864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879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 &amp; Future Scope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202184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5430" y="1663302"/>
            <a:ext cx="5304697" cy="126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combines relational database engineering, REST API backend, and Android mobile application development into a unified buyer self-service platform.</a:t>
            </a:r>
            <a:endParaRPr lang="en-US" sz="16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design includes offline caching, buyer activity management, EMI calculation, and push notifications.</a:t>
            </a:r>
            <a:endParaRPr lang="en-US" sz="1600" dirty="0"/>
          </a:p>
          <a:p>
            <a:pPr marL="162560" indent="-162560" algn="l">
              <a:lnSpc>
                <a:spcPct val="10400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CO1, CO3, and CO4 are represented through the current relational, API, and Node.js/Express core architecture.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5429" y="3908425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Planned Scalable Architecture </a:t>
            </a:r>
            <a:r>
              <a:rPr lang="en-US" dirty="0">
                <a:solidFill>
                  <a:srgbClr val="6B8F71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(Future)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5428" y="4413349"/>
            <a:ext cx="5304697" cy="4468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current prototype uses a centralized MySQL database and Node.js/Express backend. Microservice decomposition is a planned scalability extension.</a:t>
            </a:r>
            <a:endParaRPr lang="en-US" sz="1600" dirty="0"/>
          </a:p>
          <a:p>
            <a:pPr marL="0" indent="0"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 → USER SERVICE / PROPERTY SERVICE / ACTIVITY SERVICE → DB-PER-SERVICE</a:t>
            </a:r>
            <a:endParaRPr lang="en-US" sz="1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Planned concepts: service boundaries, API Gateway, centralized auth/token forwarding, resilience, timeouts, and Saga / compensating actions.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31873" y="1068487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Planned Deployment &amp; Delivery Roadmap </a:t>
            </a:r>
            <a:r>
              <a:rPr lang="en-US" sz="1000" dirty="0">
                <a:solidFill>
                  <a:srgbClr val="6B8F71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(Future)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31873" y="1301948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31873" y="1469827"/>
            <a:ext cx="5304697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" name="Text 8"/>
          <p:cNvSpPr/>
          <p:nvPr/>
        </p:nvSpPr>
        <p:spPr>
          <a:xfrm>
            <a:off x="6231873" y="1548309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System Assembly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31873" y="1774230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 + REST API + MySQL integration; request-flow documentation.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31873" y="2046585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31873" y="2214463"/>
            <a:ext cx="5304697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231873" y="2292945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Containerisation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31873" y="2518866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Dockerfile, Docker Compose, container networking.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31873" y="2791222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31873" y="2959100"/>
            <a:ext cx="5304697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6"/>
          <p:cNvSpPr/>
          <p:nvPr/>
        </p:nvSpPr>
        <p:spPr>
          <a:xfrm>
            <a:off x="6231873" y="3037582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Deployment Awareness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1873" y="3263503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Kubernetes Pods, Deployments, Services and Ingress basics.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31873" y="3535859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31873" y="3703737"/>
            <a:ext cx="5304697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2" name="Text 20"/>
          <p:cNvSpPr/>
          <p:nvPr/>
        </p:nvSpPr>
        <p:spPr>
          <a:xfrm>
            <a:off x="6231873" y="3782219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1873" y="4008140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OpenTelemetry, Prometheus and Grafana dashboards.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31873" y="4280495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31873" y="4448373"/>
            <a:ext cx="5304697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6" name="Text 24"/>
          <p:cNvSpPr/>
          <p:nvPr/>
        </p:nvSpPr>
        <p:spPr>
          <a:xfrm>
            <a:off x="6231873" y="4526855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CI/CD &amp; Security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1873" y="4752777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GitHub Actions, automated testing, image scanning, OWASP practices.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31873" y="5025132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31873" y="5193010"/>
            <a:ext cx="5304697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30" name="Text 28"/>
          <p:cNvSpPr/>
          <p:nvPr/>
        </p:nvSpPr>
        <p:spPr>
          <a:xfrm>
            <a:off x="6231873" y="5271492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Documentation &amp; Showcase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31873" y="5497413"/>
            <a:ext cx="5304697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C4 architecture diagrams, README, load testing, final demo.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31873" y="5777309"/>
            <a:ext cx="5304697" cy="426442"/>
          </a:xfrm>
          <a:prstGeom prst="roundRect">
            <a:avLst>
              <a:gd name="adj" fmla="val 3740"/>
            </a:avLst>
          </a:prstGeom>
          <a:solidFill>
            <a:srgbClr val="ECE6DF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34" y="5865713"/>
            <a:ext cx="132851" cy="10626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577245" y="5857577"/>
            <a:ext cx="4853065" cy="26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Additional future scope: admin portal, advanced search/filtering, map-based discovery, personalized recommendations, and polyglot persistence.</a:t>
            </a:r>
            <a:endParaRPr lang="en-US" sz="8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D8F1865-40D7-0E5D-C04F-07819FD9D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904" y="6387546"/>
            <a:ext cx="2027096" cy="419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1256</Words>
  <Application>Microsoft Office PowerPoint</Application>
  <PresentationFormat>Widescreen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Consolas</vt:lpstr>
      <vt:lpstr>Gelasio</vt:lpstr>
      <vt:lpstr>Gelasio Bold</vt:lpstr>
      <vt:lpstr>Gelasio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Faizaan Mohammad</cp:lastModifiedBy>
  <cp:revision>3</cp:revision>
  <dcterms:created xsi:type="dcterms:W3CDTF">2026-10-02T18:10:11Z</dcterms:created>
  <dcterms:modified xsi:type="dcterms:W3CDTF">2026-10-02T18:14:51Z</dcterms:modified>
</cp:coreProperties>
</file>